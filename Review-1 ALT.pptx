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962" y="4481512"/>
            <a:ext cx="4410075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187" y="1700212"/>
            <a:ext cx="3095625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866" y="2243137"/>
            <a:ext cx="10136266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600" b="1" i="0" u="none" dirty="0">
                <a:solidFill>
                  <a:srgbClr val="0F172A"/>
                </a:solidFill>
                <a:latin typeface="Poppins"/>
              </a:rPr>
              <a:t>Transformer-Based Educational </a:t>
            </a:r>
            <a:r>
              <a:rPr lang="en-IN" sz="3600" b="1" dirty="0">
                <a:solidFill>
                  <a:srgbClr val="0F172A"/>
                </a:solidFill>
                <a:latin typeface="Poppins"/>
              </a:rPr>
              <a:t>S</a:t>
            </a:r>
            <a:r>
              <a:rPr sz="3600" b="1" i="0" u="none" dirty="0">
                <a:solidFill>
                  <a:srgbClr val="0F172A"/>
                </a:solidFill>
                <a:latin typeface="Poppins"/>
              </a:rPr>
              <a:t>LM with</a:t>
            </a:r>
            <a:r>
              <a:rPr sz="3600" dirty="0"/>
              <a:t>
</a:t>
            </a:r>
            <a:r>
              <a:rPr sz="3600" b="1" i="0" u="none" dirty="0">
                <a:solidFill>
                  <a:srgbClr val="0F172A"/>
                </a:solidFill>
                <a:latin typeface="Poppins"/>
              </a:rPr>
              <a:t> Deterministic Mathematical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529012"/>
            <a:ext cx="838200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A full-stack, transparent AI architecture combining Transformer Small Language Models with a first-principles C++ deterministic mathematical engine.</a:t>
            </a:r>
            <a:endParaRPr lang="en-IN" sz="1500" b="0" i="0" u="none" dirty="0">
              <a:solidFill>
                <a:schemeClr val="tx1">
                  <a:lumMod val="85000"/>
                  <a:lumOff val="15000"/>
                </a:schemeClr>
              </a:solidFill>
              <a:latin typeface="Inter"/>
            </a:endParaRPr>
          </a:p>
          <a:p>
            <a:pPr algn="ctr">
              <a:lnSpc>
                <a:spcPts val="2250"/>
              </a:lnSpc>
            </a:pPr>
            <a:endParaRPr sz="1500" b="0" i="0" u="none" dirty="0">
              <a:solidFill>
                <a:schemeClr val="tx1">
                  <a:lumMod val="85000"/>
                  <a:lumOff val="15000"/>
                </a:schemeClr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43387" y="4643437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 SemiBold"/>
              </a:rPr>
              <a:t>Rochan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3387" y="4833937"/>
            <a:ext cx="1028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ID: 2420030176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7837" y="4643437"/>
            <a:ext cx="10382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 SemiBold"/>
              </a:rPr>
              <a:t>Ansh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7837" y="4833937"/>
            <a:ext cx="1038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ID: 2420090100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1812" y="4643437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 SemiBold"/>
              </a:rPr>
              <a:t>Aryan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1812" y="4833937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ID: 2420090049</a:t>
            </a:r>
          </a:p>
        </p:txBody>
      </p:sp>
      <p:pic>
        <p:nvPicPr>
          <p:cNvPr id="13" name="Picture 12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B8DE6194-6271-506B-5B2C-73750E8DD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59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20770"/>
            <a:ext cx="4787081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oppins"/>
              </a:rPr>
              <a:t>Educational SLM with</a:t>
            </a:r>
            <a:r>
              <a:rPr lang="en-US" dirty="0"/>
              <a:t>
</a:t>
            </a:r>
            <a:r>
              <a:rPr lang="en-US" b="1" dirty="0">
                <a:solidFill>
                  <a:srgbClr val="0F172A"/>
                </a:solidFill>
                <a:latin typeface="Poppins"/>
              </a:rPr>
              <a:t>Deterministic Mathematical Reasoning</a:t>
            </a:r>
          </a:p>
          <a:p>
            <a:pPr algn="l"/>
            <a:endParaRPr sz="165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8695" y="2491382"/>
            <a:ext cx="11164376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Large and Small Language Models excel at conversational English but frequently output incorrect results for algorithmic math tasks such as arithmetic evaluation, primality testing, factorization, and symbolic manipulation.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695" y="3527225"/>
            <a:ext cx="11528170" cy="15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39"/>
              </a:lnSpc>
            </a:pPr>
            <a:r>
              <a:rPr lang="en-US" sz="1275" dirty="0">
                <a:solidFill>
                  <a:srgbClr val="334155"/>
                </a:solidFill>
                <a:latin typeface="Inter"/>
              </a:rPr>
              <a:t>The proposed system aims to develop a Transformer-based Small Language Model (SLM) integrated with a Tool Router and a Deterministic Mathematical Runtime. The Tool Router identifies whether a user query requires deterministic computation and selects the appropriate mathematical tool for execution. For direct computational queries, the selected tool is invoked immediately. For complex problems, such as multi-step word problems or algebraic reasoning, the SLM decomposes the problem into smaller computational subtasks, invokes the required mathematical tools sequentially, and integrates their outputs to generate a coherent, step-by-step natural language explanation. This hybrid architecture combines the linguistic capabilities of transformer models with the accuracy and reliability of deterministic algorithms for educational mathematical reasoning.</a:t>
            </a:r>
            <a:endParaRPr sz="1275" b="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9" name="Picture 8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DFBFEB36-1846-0F89-1035-D167E1F48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665" y="349195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0275"/>
            <a:ext cx="3492549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00275"/>
            <a:ext cx="3492549" cy="3219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00275"/>
            <a:ext cx="3492549" cy="3219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1460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38500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Full C++ AI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48075"/>
            <a:ext cx="294009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Design and implement an educational AI framework from scratch in C++, including tensor operations, automatic differentiation, neural network modules, custom tokenizer, and transformer architecture.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51460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238500"/>
            <a:ext cx="308710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Deterministic Math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62400"/>
            <a:ext cx="29400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Build an independent mathematical engine for exact calculations: arithmetic, primality, prime factorization, fractions, percentages, ratios, algebraic simplification, and equation solving.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51460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04324" y="3238500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Fluent &amp; Explainable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324" y="3648075"/>
            <a:ext cx="29400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Integrate language generation with exact mathematical execution, enabling the system to converse naturally in English while supplying verifiable, step-by-step explanations.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657475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7474" y="2657475"/>
            <a:ext cx="1905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3861" y="2657475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Primary Objectives</a:t>
            </a:r>
          </a:p>
        </p:txBody>
      </p:sp>
      <p:pic>
        <p:nvPicPr>
          <p:cNvPr id="20" name="Picture 19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1352F9B2-DC8A-7025-814B-F7D406A469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9275" y="200025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25303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Modern SLM &amp; Transformer Architectures: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Architectures such as GPT,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LLaMA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, Gemma, Qwen, Phi, and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SmolLM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have dramatically advanced language processing and conversational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17651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Educational Instruction Tuning: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Domain-specific tuning using datasets like Grade School Math (GSM8K) and MathConcepts-Instruct significantly enhances educational tutoring.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10000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Tool Augmentation: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Recent efforts augment language models with external tools to increase computational reliability on algorithmic workloads.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02348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Framework Reliance &amp; Black-Box Abstraction: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Most existing implementations rely strictly on PyTorch or TensorFlow, missing the educational benefit of building the full AI engine and math runtime from scratch.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9115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1464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381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6160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Literature Survey</a:t>
            </a:r>
          </a:p>
        </p:txBody>
      </p:sp>
      <p:pic>
        <p:nvPicPr>
          <p:cNvPr id="13" name="Picture 12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F4955589-CFF8-7745-F0E7-A61B393FB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0324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7851"/>
            <a:ext cx="5334000" cy="24642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77851"/>
            <a:ext cx="5334000" cy="2464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0751"/>
            <a:ext cx="488061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Probabilistic Errors &amp; External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0326"/>
            <a:ext cx="4648200" cy="125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Modern language models remain probabilistic systems that frequently hallucinate during deterministic calculations. Existing workarounds rely heavily on external cloud APIs or proprietary third-party software, limiting transparency and educational insight into full system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20751"/>
            <a:ext cx="488061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650" b="0" i="0" u="none" dirty="0">
                <a:solidFill>
                  <a:srgbClr val="1E293B"/>
                </a:solidFill>
                <a:latin typeface="Poppins SemiBold"/>
              </a:rPr>
              <a:t>Limitations of Existing Educational LMs</a:t>
            </a:r>
            <a:endParaRPr sz="165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19568" y="3330326"/>
            <a:ext cx="4648200" cy="1261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76"/>
              </a:lnSpc>
            </a:pPr>
            <a:r>
              <a:rPr lang="en-US" sz="1275" dirty="0">
                <a:solidFill>
                  <a:srgbClr val="334155"/>
                </a:solidFill>
                <a:latin typeface="Inter"/>
              </a:rPr>
              <a:t>Most educational language models do not integrate a dedicated deterministic mathematical engine capable of performing exact computations. Current approaches typically depend on external APIs or large proprietary models instead of an integrated, extensible mathematical runtime.</a:t>
            </a:r>
            <a:endParaRPr sz="1275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Research Gap Identification</a:t>
            </a:r>
          </a:p>
        </p:txBody>
      </p:sp>
      <p:pic>
        <p:nvPicPr>
          <p:cNvPr id="11" name="Picture 10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2BA5A0AD-1FF3-C126-7BA9-75210CBAA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705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00250"/>
            <a:ext cx="10706100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Hybrid AI Architecture: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Seamlessly combines a Small Language Model with a deterministic math engine to delegate verifiable mathematical operations while generating natural language explanations.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94446"/>
            <a:ext cx="10353368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First-Principles C++ Pipeline: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Replaces deep learning libraries by building all components—tensors,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autograd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engine, tokenizer, optimizer, and training pipeline—independently.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7719"/>
            <a:ext cx="10225548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Verifiable Reasoning: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Guarantees accurate computation for algebra, prime testing, arithmetic, and factorization without statistical hallucinations.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24062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8259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61532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Key Innovations</a:t>
            </a:r>
          </a:p>
        </p:txBody>
      </p:sp>
      <p:pic>
        <p:nvPicPr>
          <p:cNvPr id="13" name="Picture 12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2107A974-AE51-E4FE-8A38-0A34A6259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275" y="152399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3137"/>
            <a:ext cx="3492549" cy="3133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43137"/>
            <a:ext cx="3492549" cy="3133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43137"/>
            <a:ext cx="3492549" cy="3133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5746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8136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Modular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90937"/>
            <a:ext cx="294009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Individual C++ components (tensor library, autograd engine, tokenizer, transformer modules, math runtime) are developed and benchmarked independently prior to full system integration.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55746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28136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Hybrid 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690937"/>
            <a:ext cx="29400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Public conversational datasets supply English fluency, while the built-in symbolic math engine generates custom, domain-specific procedural training data.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55746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04324" y="328136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Accessible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324" y="3690937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Core C++ execution runs efficiently on local hardware, with cloud GPU platforms utilized for language model pretraining and instruction tuning.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887" y="2700337"/>
            <a:ext cx="2190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3187" y="2700337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3861" y="2700337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Feasibility &amp; Technical Strategy</a:t>
            </a:r>
          </a:p>
        </p:txBody>
      </p:sp>
      <p:pic>
        <p:nvPicPr>
          <p:cNvPr id="20" name="Picture 19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80EAB1F2-1C0E-7C5E-0CE6-68EA56DFF3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498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6782"/>
            <a:ext cx="11049000" cy="338628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977356"/>
              </p:ext>
            </p:extLst>
          </p:nvPr>
        </p:nvGraphicFramePr>
        <p:xfrm>
          <a:off x="571500" y="2135832"/>
          <a:ext cx="11029949" cy="3367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Source / Repository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Target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TinyStories</a:t>
                      </a:r>
                      <a:endParaRPr sz="1275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https://huggingface.co/datasets/roneneldan/TinyStories</a:t>
                      </a:r>
                      <a:endParaRPr sz="1050" b="0" i="0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Language Pretraining &amp; Conversational English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Alpaca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https://huggingface.co/datasets/tatsu-lab/alpaca</a:t>
                      </a:r>
                      <a:endParaRPr sz="1050" b="0" i="0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Instruction Following &amp; Task Compliance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Dolly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05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https://huggingface.co/datasets/databricks/databricks-dolly-15k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Open Instruction &amp; Dialogue Tuning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MathConcepts-Instruct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https://huggingface.co/datasets/kd13/MathConcepts-Instruct-v1</a:t>
                      </a:r>
                      <a:endParaRPr sz="1050" b="0" i="0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Educational Mathematics &amp; Concept Tutoring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20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Grade School Math (GSM8K)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https://github.com/openai/grade-school-math</a:t>
                      </a:r>
                      <a:endParaRPr sz="1050" b="0" i="0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Multi-Step Math Word Problem Solving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62535"/>
            <a:ext cx="3097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78287" y="2662535"/>
            <a:ext cx="3340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18734" y="2662535"/>
            <a:ext cx="4592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27784"/>
            <a:ext cx="3097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78287" y="3227784"/>
            <a:ext cx="3340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18734" y="3227784"/>
            <a:ext cx="4592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793033"/>
            <a:ext cx="3097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78287" y="3793033"/>
            <a:ext cx="3340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18734" y="3793033"/>
            <a:ext cx="4592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358282"/>
            <a:ext cx="3097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78287" y="4358282"/>
            <a:ext cx="3340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18734" y="4358282"/>
            <a:ext cx="4592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923532"/>
            <a:ext cx="3097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78287" y="4923532"/>
            <a:ext cx="3340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18734" y="4923532"/>
            <a:ext cx="4592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oppins"/>
              </a:rPr>
              <a:t>  Datasets</a:t>
            </a:r>
          </a:p>
        </p:txBody>
      </p:sp>
      <p:pic>
        <p:nvPicPr>
          <p:cNvPr id="22" name="Picture 21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0DFAC8A0-2836-1D39-1C32-D20509EE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854" y="115118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0706C-3EB1-A0A2-C302-5766A529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7E07581-C1FE-C284-85D2-D84489E6E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019" y="4191000"/>
            <a:ext cx="5082480" cy="20672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183604-6F41-0C27-3AF0-ABAABAF9260D}"/>
              </a:ext>
            </a:extLst>
          </p:cNvPr>
          <p:cNvSpPr txBox="1"/>
          <p:nvPr/>
        </p:nvSpPr>
        <p:spPr>
          <a:xfrm>
            <a:off x="571500" y="47625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700" b="1" dirty="0">
                <a:solidFill>
                  <a:srgbClr val="0F172A"/>
                </a:solidFill>
                <a:latin typeface="Poppins"/>
              </a:rPr>
              <a:t>Work Flow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pic>
        <p:nvPicPr>
          <p:cNvPr id="15" name="image1.png">
            <a:extLst>
              <a:ext uri="{FF2B5EF4-FFF2-40B4-BE49-F238E27FC236}">
                <a16:creationId xmlns:a16="http://schemas.microsoft.com/office/drawing/2014/main" id="{E28CAEC7-A855-E442-E79C-8F6074F1E42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95351" y="1353769"/>
            <a:ext cx="3001297" cy="4904453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DEE38A-624A-3DF5-95EC-1E20141B33C2}"/>
              </a:ext>
            </a:extLst>
          </p:cNvPr>
          <p:cNvSpPr txBox="1"/>
          <p:nvPr/>
        </p:nvSpPr>
        <p:spPr>
          <a:xfrm>
            <a:off x="147484" y="22810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0" name="Picture 19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A2DB6F37-B8B3-2F2E-78E5-414B815D6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330" y="98211"/>
            <a:ext cx="27336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6602"/>
            <a:ext cx="5082480" cy="17528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019" y="4191000"/>
            <a:ext cx="5082480" cy="20672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9625" y="2104727"/>
            <a:ext cx="483654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Phase 1: Core C++ AI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514302"/>
            <a:ext cx="460623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Develop tensor computation library, automatic differentiation engine, neural network framework, and custom tokenizer independently in modern C++.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6144" y="4429125"/>
            <a:ext cx="483654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Phase 2: Transformer Engine &amp; Pretraining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6144" y="5153025"/>
            <a:ext cx="460623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Implement transformer architecture, optimizer, training/inference engines, pretraining on conversational corpora, and instruction fine-tuning.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Project Plan: Phases 1 &amp;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796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7448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EE98E94D-0DDE-8A42-1051-D7F6506B3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994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6602"/>
            <a:ext cx="5082480" cy="17528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019" y="4191000"/>
            <a:ext cx="5082480" cy="175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9625" y="2104727"/>
            <a:ext cx="483654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Phase 3: Math Engine &amp; Procedural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514302"/>
            <a:ext cx="460623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Build deterministic mathematical runtime and symbolic engine for exact computations, generating custom domain-specific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6144" y="4429125"/>
            <a:ext cx="483654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Phase 4: Integration &amp;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6144" y="4838700"/>
            <a:ext cx="460623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Implement routing mechanism to delegate math queries to runtime, combine outputs with language model explanations, and benchmark system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Project Plan: Phases 3 &amp;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796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7448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9E54E909-21DE-E486-F376-263BBD1EC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414" y="185736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2031"/>
            <a:ext cx="11049000" cy="225578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691556"/>
          <a:ext cx="11029949" cy="2236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6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7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18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S.No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Student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Student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F172A"/>
                          </a:solidFill>
                          <a:latin typeface="Poppins SemiBold"/>
                        </a:rPr>
                        <a:t>Project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184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2420030176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Rochan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Team 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184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2420090100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Ansh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Team 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2420090049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Aryan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Team 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227784"/>
            <a:ext cx="1616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7893" y="3227784"/>
            <a:ext cx="3079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77742" y="3227784"/>
            <a:ext cx="3176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3883" y="3227784"/>
            <a:ext cx="3157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793033"/>
            <a:ext cx="1616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7893" y="3793033"/>
            <a:ext cx="3079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77742" y="3793033"/>
            <a:ext cx="3176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3883" y="3793033"/>
            <a:ext cx="3157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358282"/>
            <a:ext cx="1616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97893" y="4358282"/>
            <a:ext cx="3079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77742" y="4358282"/>
            <a:ext cx="3176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3883" y="4358282"/>
            <a:ext cx="31570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Project Team Members</a:t>
            </a:r>
          </a:p>
        </p:txBody>
      </p:sp>
      <p:pic>
        <p:nvPicPr>
          <p:cNvPr id="18" name="Picture 17" descr="EC - Best Private University in Telangana &amp; Andhra Pradesh | KLH Hyderabad">
            <a:extLst>
              <a:ext uri="{FF2B5EF4-FFF2-40B4-BE49-F238E27FC236}">
                <a16:creationId xmlns:a16="http://schemas.microsoft.com/office/drawing/2014/main" id="{C876E07E-57B7-9621-2373-20839EAC8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491" y="176061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905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monospace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zlatan ibrahimovic5677</dc:creator>
  <cp:keywords/>
  <dc:description>generated using python-pptx</dc:description>
  <cp:lastModifiedBy>zlatan ibrahimovic5677</cp:lastModifiedBy>
  <cp:revision>6</cp:revision>
  <dcterms:created xsi:type="dcterms:W3CDTF">2013-01-27T09:14:16Z</dcterms:created>
  <dcterms:modified xsi:type="dcterms:W3CDTF">2026-08-19T04:49:05Z</dcterms:modified>
  <cp:category/>
</cp:coreProperties>
</file>